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21773f14a048b2" /><Relationship Type="http://schemas.openxmlformats.org/officeDocument/2006/relationships/extended-properties" Target="/docProps/app.xml" Id="Rf13a711a3a204d2a" /><Relationship Type="http://schemas.openxmlformats.org/officeDocument/2006/relationships/officeDocument" Target="/ppt/presentation.xml" Id="R58968ce3bef1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ac7fd87974656"/>
  </p:sldMasterIdLst>
  <p:notesMasterIdLst>
    <p:notesMasterId xmlns:r="http://schemas.openxmlformats.org/officeDocument/2006/relationships" r:id="R874d2e2c55ad400e"/>
  </p:notesMasterIdLst>
  <p:sldIdLst>
    <p:sldId xmlns:r="http://schemas.openxmlformats.org/officeDocument/2006/relationships" id="256" r:id="R7f03f75b926e4aa9"/>
    <p:sldId xmlns:r="http://schemas.openxmlformats.org/officeDocument/2006/relationships" id="257" r:id="R3c6cbd2948dc4575"/>
    <p:sldId xmlns:r="http://schemas.openxmlformats.org/officeDocument/2006/relationships" id="258" r:id="Rf4e99c9f31d348d3"/>
    <p:sldId xmlns:r="http://schemas.openxmlformats.org/officeDocument/2006/relationships" id="259" r:id="R39e45808f012482e"/>
    <p:sldId xmlns:r="http://schemas.openxmlformats.org/officeDocument/2006/relationships" id="260" r:id="Rcc7f869c4fdb4cd2"/>
    <p:sldId xmlns:r="http://schemas.openxmlformats.org/officeDocument/2006/relationships" id="261" r:id="R2515cc9f13f1478e"/>
    <p:sldId xmlns:r="http://schemas.openxmlformats.org/officeDocument/2006/relationships" id="262" r:id="Ra9e8dfd75336416c"/>
    <p:sldId xmlns:r="http://schemas.openxmlformats.org/officeDocument/2006/relationships" id="263" r:id="R1fea8966722e443d"/>
    <p:sldId xmlns:r="http://schemas.openxmlformats.org/officeDocument/2006/relationships" id="264" r:id="R0c252f564e4c4320"/>
    <p:sldId xmlns:r="http://schemas.openxmlformats.org/officeDocument/2006/relationships" id="265" r:id="R2776af3fc7864124"/>
    <p:sldId xmlns:r="http://schemas.openxmlformats.org/officeDocument/2006/relationships" id="266" r:id="Rd411bd32c8004d34"/>
    <p:sldId xmlns:r="http://schemas.openxmlformats.org/officeDocument/2006/relationships" id="267" r:id="R0ac00c4060e4431a"/>
    <p:sldId xmlns:r="http://schemas.openxmlformats.org/officeDocument/2006/relationships" id="268" r:id="R4e3efd65cb8c439b"/>
    <p:sldId xmlns:r="http://schemas.openxmlformats.org/officeDocument/2006/relationships" id="269" r:id="R04308f80b88d4821"/>
    <p:sldId xmlns:r="http://schemas.openxmlformats.org/officeDocument/2006/relationships" id="270" r:id="R4a3dd68f8e4147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82e35cc39483d" /><Relationship Type="http://schemas.openxmlformats.org/officeDocument/2006/relationships/slideMaster" Target="/ppt/slideMasters/slideMaster1.xml" Id="R580ac7fd87974656" /><Relationship Type="http://schemas.openxmlformats.org/officeDocument/2006/relationships/notesMaster" Target="/ppt/notesMasters/notesMaster1.xml" Id="R874d2e2c55ad400e" /><Relationship Type="http://schemas.openxmlformats.org/officeDocument/2006/relationships/presProps" Target="/ppt/presProps.xml" Id="R6367c0fa613d4871" /><Relationship Type="http://schemas.openxmlformats.org/officeDocument/2006/relationships/viewProps" Target="/ppt/viewProps.xml" Id="R0ebe0ad9e3934d95" /><Relationship Type="http://schemas.openxmlformats.org/officeDocument/2006/relationships/tableStyles" Target="/ppt/tableStyles.xml" Id="Rbbe7d490b6e248f3" /><Relationship Type="http://schemas.openxmlformats.org/officeDocument/2006/relationships/slide" Target="/ppt/slides/slide1.xml" Id="R7f03f75b926e4aa9" /><Relationship Type="http://schemas.openxmlformats.org/officeDocument/2006/relationships/slide" Target="/ppt/slides/slide2.xml" Id="R3c6cbd2948dc4575" /><Relationship Type="http://schemas.openxmlformats.org/officeDocument/2006/relationships/slide" Target="/ppt/slides/slide3.xml" Id="Rf4e99c9f31d348d3" /><Relationship Type="http://schemas.openxmlformats.org/officeDocument/2006/relationships/slide" Target="/ppt/slides/slide4.xml" Id="R39e45808f012482e" /><Relationship Type="http://schemas.openxmlformats.org/officeDocument/2006/relationships/slide" Target="/ppt/slides/slide5.xml" Id="Rcc7f869c4fdb4cd2" /><Relationship Type="http://schemas.openxmlformats.org/officeDocument/2006/relationships/slide" Target="/ppt/slides/slide6.xml" Id="R2515cc9f13f1478e" /><Relationship Type="http://schemas.openxmlformats.org/officeDocument/2006/relationships/slide" Target="/ppt/slides/slide7.xml" Id="Ra9e8dfd75336416c" /><Relationship Type="http://schemas.openxmlformats.org/officeDocument/2006/relationships/slide" Target="/ppt/slides/slide8.xml" Id="R1fea8966722e443d" /><Relationship Type="http://schemas.openxmlformats.org/officeDocument/2006/relationships/slide" Target="/ppt/slides/slide9.xml" Id="R0c252f564e4c4320" /><Relationship Type="http://schemas.openxmlformats.org/officeDocument/2006/relationships/slide" Target="/ppt/slides/slide10.xml" Id="R2776af3fc7864124" /><Relationship Type="http://schemas.openxmlformats.org/officeDocument/2006/relationships/slide" Target="/ppt/slides/slide11.xml" Id="Rd411bd32c8004d34" /><Relationship Type="http://schemas.openxmlformats.org/officeDocument/2006/relationships/slide" Target="/ppt/slides/slide12.xml" Id="R0ac00c4060e4431a" /><Relationship Type="http://schemas.openxmlformats.org/officeDocument/2006/relationships/slide" Target="/ppt/slides/slide13.xml" Id="R4e3efd65cb8c439b" /><Relationship Type="http://schemas.openxmlformats.org/officeDocument/2006/relationships/slide" Target="/ppt/slides/slide14.xml" Id="R04308f80b88d4821" /><Relationship Type="http://schemas.openxmlformats.org/officeDocument/2006/relationships/slide" Target="/ppt/slides/slide15.xml" Id="R4a3dd68f8e41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2dde348cb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688d25ddf49b2" /><Relationship Type="http://schemas.openxmlformats.org/officeDocument/2006/relationships/notesMaster" Target="/ppt/notesMasters/notesMaster1.xml" Id="R420a60df17f14f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d53c100c94633" /><Relationship Type="http://schemas.openxmlformats.org/officeDocument/2006/relationships/notesMaster" Target="/ppt/notesMasters/notesMaster1.xml" Id="R3781bdea5fd7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0245c1ace4c46" /><Relationship Type="http://schemas.openxmlformats.org/officeDocument/2006/relationships/notesMaster" Target="/ppt/notesMasters/notesMaster1.xml" Id="R57e9c9c0ab84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403240c9a4845" /><Relationship Type="http://schemas.openxmlformats.org/officeDocument/2006/relationships/notesMaster" Target="/ppt/notesMasters/notesMaster1.xml" Id="R7a5e628a0b12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0a2239b61487b" /><Relationship Type="http://schemas.openxmlformats.org/officeDocument/2006/relationships/notesMaster" Target="/ppt/notesMasters/notesMaster1.xml" Id="R38ca373a3781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3d283a28b4122" /><Relationship Type="http://schemas.openxmlformats.org/officeDocument/2006/relationships/notesMaster" Target="/ppt/notesMasters/notesMaster1.xml" Id="R688fe56f8697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2e1defd2b54a5b" /><Relationship Type="http://schemas.openxmlformats.org/officeDocument/2006/relationships/notesMaster" Target="/ppt/notesMasters/notesMaster1.xml" Id="Rd6246b9e31094a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445c61f731410a" /><Relationship Type="http://schemas.openxmlformats.org/officeDocument/2006/relationships/notesMaster" Target="/ppt/notesMasters/notesMaster1.xml" Id="Re27e7a52288d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9dc562f1e141e5" /><Relationship Type="http://schemas.openxmlformats.org/officeDocument/2006/relationships/notesMaster" Target="/ppt/notesMasters/notesMaster1.xml" Id="R58fe56eb178d46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9ec49f334d44c0" /><Relationship Type="http://schemas.openxmlformats.org/officeDocument/2006/relationships/notesMaster" Target="/ppt/notesMasters/notesMaster1.xml" Id="R43cdde461f1d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b2a1ec1e8a49c0" /><Relationship Type="http://schemas.openxmlformats.org/officeDocument/2006/relationships/notesMaster" Target="/ppt/notesMasters/notesMaster1.xml" Id="Rb2ea1fc4e4d54b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34feeda60d494d" /><Relationship Type="http://schemas.openxmlformats.org/officeDocument/2006/relationships/notesMaster" Target="/ppt/notesMasters/notesMaster1.xml" Id="R015004e3eed946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a3d8563ef544f7" /><Relationship Type="http://schemas.openxmlformats.org/officeDocument/2006/relationships/notesMaster" Target="/ppt/notesMasters/notesMaster1.xml" Id="Rf55189dd09e4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2476da3e834b61" /><Relationship Type="http://schemas.openxmlformats.org/officeDocument/2006/relationships/notesMaster" Target="/ppt/notesMasters/notesMaster1.xml" Id="R9327053245b040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363125a2534f2c" /><Relationship Type="http://schemas.openxmlformats.org/officeDocument/2006/relationships/notesMaster" Target="/ppt/notesMasters/notesMaster1.xml" Id="Re690390df17e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b50a0be36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dffef92cf4ab0" /><Relationship Type="http://schemas.openxmlformats.org/officeDocument/2006/relationships/slideLayout" Target="/ppt/slideLayouts/slideLayout1.xml" Id="R7f7fd88e77a9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7fd88e77a9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80e6771554817" /><Relationship Type="http://schemas.openxmlformats.org/officeDocument/2006/relationships/notesSlide" Target="/ppt/notesSlides/notesSlide1.xml" Id="Rcb20233e33f9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5f6d393154a24" /><Relationship Type="http://schemas.openxmlformats.org/officeDocument/2006/relationships/notesSlide" Target="/ppt/notesSlides/notesSlide2.xml" Id="R17980a4151d8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8159601734e0a" /><Relationship Type="http://schemas.openxmlformats.org/officeDocument/2006/relationships/notesSlide" Target="/ppt/notesSlides/notesSlide3.xml" Id="R6dac3ce2d24445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bde970d204584" /><Relationship Type="http://schemas.openxmlformats.org/officeDocument/2006/relationships/notesSlide" Target="/ppt/notesSlides/notesSlide4.xml" Id="R05df2bd6d77f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5b03160b7426b" /><Relationship Type="http://schemas.openxmlformats.org/officeDocument/2006/relationships/notesSlide" Target="/ppt/notesSlides/notesSlide5.xml" Id="Rd0103902458b43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50fd1f7eb4652" /><Relationship Type="http://schemas.openxmlformats.org/officeDocument/2006/relationships/image" Target="/ppt/media/image.png" Id="R46c172a992fe4bf2" /><Relationship Type="http://schemas.openxmlformats.org/officeDocument/2006/relationships/notesSlide" Target="/ppt/notesSlides/notesSlide6.xml" Id="Rb175db0b50e6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8dad03ba4d7c" /><Relationship Type="http://schemas.openxmlformats.org/officeDocument/2006/relationships/image" Target="/ppt/media/image2.png" Id="R90f6d17afe9a4a68" /><Relationship Type="http://schemas.openxmlformats.org/officeDocument/2006/relationships/notesSlide" Target="/ppt/notesSlides/notesSlide7.xml" Id="R3843ddf014ed48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d07d9e8ac4595" /><Relationship Type="http://schemas.openxmlformats.org/officeDocument/2006/relationships/image" Target="/ppt/media/image3.png" Id="Rcf11783f1f1949e6" /><Relationship Type="http://schemas.openxmlformats.org/officeDocument/2006/relationships/notesSlide" Target="/ppt/notesSlides/notesSlide8.xml" Id="R0e23e938e8c04b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7b559b744dc4" /><Relationship Type="http://schemas.openxmlformats.org/officeDocument/2006/relationships/image" Target="/ppt/media/image4.png" Id="Rc378a2b838284364" /><Relationship Type="http://schemas.openxmlformats.org/officeDocument/2006/relationships/notesSlide" Target="/ppt/notesSlides/notesSlide9.xml" Id="Rab82376bac7443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d2df6b9a489a" /><Relationship Type="http://schemas.openxmlformats.org/officeDocument/2006/relationships/image" Target="/ppt/media/image5.png" Id="Re1bd53c31e2542e0" /><Relationship Type="http://schemas.openxmlformats.org/officeDocument/2006/relationships/image" Target="/ppt/media/image6.png" Id="R9b914ad0be264585" /><Relationship Type="http://schemas.openxmlformats.org/officeDocument/2006/relationships/notesSlide" Target="/ppt/notesSlides/notesSlide10.xml" Id="R5a862a6f7f184a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b5349958e476c" /><Relationship Type="http://schemas.openxmlformats.org/officeDocument/2006/relationships/image" Target="/ppt/media/image7.png" Id="R4f7352be9f144492" /><Relationship Type="http://schemas.openxmlformats.org/officeDocument/2006/relationships/notesSlide" Target="/ppt/notesSlides/notesSlide11.xml" Id="Rf93ea910b11a4a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1c9614d124189" /><Relationship Type="http://schemas.openxmlformats.org/officeDocument/2006/relationships/image" Target="/ppt/media/image8.png" Id="Rbfdde4700e8f486a" /><Relationship Type="http://schemas.openxmlformats.org/officeDocument/2006/relationships/notesSlide" Target="/ppt/notesSlides/notesSlide12.xml" Id="Rf61d40a2ba1049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807af824b4db1" /><Relationship Type="http://schemas.openxmlformats.org/officeDocument/2006/relationships/image" Target="/ppt/media/image9.png" Id="R7933019fb65e450d" /><Relationship Type="http://schemas.openxmlformats.org/officeDocument/2006/relationships/notesSlide" Target="/ppt/notesSlides/notesSlide13.xml" Id="R5c08d948e6394b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d4fc99b42497b" /><Relationship Type="http://schemas.openxmlformats.org/officeDocument/2006/relationships/notesSlide" Target="/ppt/notesSlides/notesSlide14.xml" Id="Rc1ff31536c0240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a5b621bb24112" /><Relationship Type="http://schemas.openxmlformats.org/officeDocument/2006/relationships/notesSlide" Target="/ppt/notesSlides/notesSlide15.xml" Id="R381ea3be4c1747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092177-0C17-42A2-B364-E19C590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0F8B5-D93F-4014-930E-624155C4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740A9-7AFB-460D-A12D-715CF934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03D6E-E603-4996-A2FA-3CFDBDB8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10380-9BC8-4541-8FEE-6999318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课程汇报 | 数据分析与可视化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45A86-B173-4F98-B836-FCE1732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60ACE-3F45-4F2E-B4F2-D10D39E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6DDAF-AD91-47A2-A7C5-457AF0B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32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基于游戏行为日志的学生表现高级EDA分析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2F33C-907B-4577-BB09-E1D28FE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695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数据来源：Kaggle Predict Student Performance from Game Play。汇报重点不是建立复杂预测模型，而是通过数据清洗、描述统计、探索性分析和可视化，解释学生在游戏学习过程中的表现差异。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E2971-175A-4278-8E42-50C4CD3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D0209-A305-4880-B14E-16BF2D49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核心问题：学生答题表现的差异，是否可以从游戏过程中的行为数量、行为结构、时间推进、路径转移和空间探索中得到解释？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F1BFA-4E64-4AED-B18D-AB45EFE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6B447-74D4-4ED3-8BE6-05C3BDE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14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2563EB"/>
                </a:solidFill>
                <a:latin typeface="SimHei"/>
                <a:ea typeface="SimHei"/>
                <a:cs typeface="SimHei"/>
              </a:rPr>
              <a:t>26M+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DA35C-C810-45B5-BB06-A4C1FBB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668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行为日志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377C3-A5E1-4CCE-9415-C586638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train.csv 事件级记录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56459-58E5-465B-96CE-FB495BA0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AFC4B-888C-4925-9AE1-859AE5C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0F766E"/>
                </a:solidFill>
                <a:latin typeface="SimHei"/>
                <a:ea typeface="SimHei"/>
                <a:cs typeface="SimHei"/>
              </a:rPr>
              <a:t>424,116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6AF06-4AB0-4A67-95CC-8CB4A9B1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289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答题标签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830F7-3AE2-4ADB-9A4B-1E93FE8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题目-会话级结果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A8C27-9F0A-4C51-87A5-EED49D64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B62CD-F6FD-45AE-B301-0EC98F5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D97706"/>
                </a:solidFill>
                <a:latin typeface="SimHei"/>
                <a:ea typeface="SimHei"/>
                <a:cs typeface="SimHei"/>
              </a:rPr>
              <a:t>23,562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529D3-0874-4400-A00C-EBE50004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909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游戏会话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217A4-26BC-4A64-B176-1167775B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session 为分析主体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B2E6A-C568-410D-B4C6-A995512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18D16-179C-4AFB-9E2D-B17E639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1D48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E11D48"/>
                </a:solidFill>
                <a:latin typeface="SimHei"/>
                <a:ea typeface="SimHei"/>
                <a:cs typeface="SimHei"/>
              </a:rPr>
              <a:t>23题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CF21D-062C-4F80-9027-CB855592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530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题目范围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9FC13-A3F5-4353-A29D-44A2D42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530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q1-q23 三个阶段</a:t>
            </a:r>
          </a:p>
        </p:txBody>
      </p:sp>
    </p:spTree>
    <p:extLst>
      <p:ext uri="{BB962C8B-B14F-4D97-AF65-F5344CB8AC3E}">
        <p14:creationId xmlns:p14="http://schemas.microsoft.com/office/powerpoint/2010/main" val="443275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BCBA7-3C39-4681-B315-377EFCE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BA9B-ADE9-4068-8F0D-82864CA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EB4F0-9C28-49B5-A0A7-7A51C83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DD68-EDA3-4420-AB77-1EDA067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137E5-9DEF-42BF-AC37-42239F6A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一、研究问题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96CDF-1FFE-4086-AE25-AAB0237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49778-C4E3-4C14-8CA7-DD73218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925F1-0805-45C9-A72F-7C6A66A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研究问题：从最终成绩回到学习过程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1A00D-1DF4-4057-99F7-239B4D5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游戏日志数据的优势在于记录了学生完成任务的全过程。如果只看最终正确率，分析会停留在“答对多少”；本项目进一步关注学生在游戏中如何行动，以及这些行动是否能解释表现差异。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820E5-89F9-43B4-9D84-F063403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0F2E7-89BA-4936-B8C1-55EDA1A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924CD-6492-4BE5-9711-BF33358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主问题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D41A1-568A-4E4C-B1D9-5A6E973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学生在游戏学习环境中的行为过程，能否解释不同题目、不同阶段上的答题表现差异？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B9C33-BFC2-4410-9F5F-D4AD2E93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83A31-BD3A-4DC9-9D0E-3E7283E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928EC-8999-4689-BC61-FD6471E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4792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子问题1：结果层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E8817-BB18-45F2-B810-C5C5858F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总体正确率如何分布？哪些题目更难？不同 level_group 的正确率是否存在显著差异？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9F012-6D93-4D04-9508-D5C4D2A7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AF316-B5C1-4B88-8CF4-4F039A6C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5F2EE-B289-43FB-B897-37B5EF91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4792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子问题2：行为层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3F0A7-E0A8-4686-99E3-EB3B606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事件数量、事件类型和设置行为是否与答题表现相关？高低表现组的行为结构有何不同？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67CB3-F10D-40B0-9987-15ABF9F0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8857F-4729-4410-96AD-5C60B10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B73E7-E07E-49F6-94F7-0596ACB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子问题3：过程层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EAA7B-4334-420B-BE4A-5D8E4ED7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从时间、路径和空间三个维度，能否进一步刻画学生的游戏推进方式和探索模式？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0DDEC-4B42-44D7-A589-D5CE75B0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C4C0E-CDE8-4225-A613-0C60774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分析定位：课程型数据分析报告，而不是机器学习竞赛方案。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9A870-F76F-4786-B3D2-BAB40EC0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38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BB8C5-49D1-45F7-813A-106560B6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方法选择：描述统计、分组比较、相关分析、方差分析、过程可视化。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AE6784-72AF-449F-9D41-7AE3C00C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A960E-29A9-494B-A9DA-8B0B2B7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表达目标：每张图表都服务于一个明确结论，避免只展示图而不解释。</a:t>
            </a:r>
          </a:p>
        </p:txBody>
      </p:sp>
    </p:spTree>
    <p:extLst>
      <p:ext uri="{BB962C8B-B14F-4D97-AF65-F5344CB8AC3E}">
        <p14:creationId xmlns:p14="http://schemas.microsoft.com/office/powerpoint/2010/main" val="15814010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E8B59-08BC-4746-87DB-96A2DEA2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F6533-1C05-4672-B791-A2D89905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AEBFD-5536-40A5-BDE3-010E8966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6E497-7FA5-41AF-B3B2-414A8549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29FB7-516E-4161-9B2F-2AD8BBC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二、数据来源与样本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163EF-1CA0-478D-AE84-1002DBCA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31C6F-5492-492B-AD77-543F981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5864E-6872-40F5-A80A-59F78AB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数据由事件日志和答题标签组成，二者粒度不同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81596-35C1-46BF-9620-C9247CE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原始数据包含学生在游戏中的点击、导航、页面、时间、坐标等行为记录，以及每个 session 在 q1-q23 上的正确/错误标签。由于行为日志是事件级，标签是题目级，必须通过 session_id 和题号解析完成对齐。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93B0-7EC0-4157-B6C8-14B2317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79695-3D0D-41AF-A29F-B53D268A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2563EB"/>
                </a:solidFill>
                <a:latin typeface="SimHei"/>
                <a:ea typeface="SimHei"/>
                <a:cs typeface="SimHei"/>
              </a:rPr>
              <a:t>train.csv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C5A61-4288-4611-8022-85610144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行为日志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7ED1E-E04B-4E0E-98FC-DFDB943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约 2600 万行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E135C-094F-4BFA-BC02-3FA0E76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C0934-E9CC-44AA-BF1E-491D99E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0F766E"/>
                </a:solidFill>
                <a:latin typeface="SimHei"/>
                <a:ea typeface="SimHei"/>
                <a:cs typeface="SimHei"/>
              </a:rPr>
              <a:t>train_labels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16C2A-0CE5-48AB-B0AA-4F8FD349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答题结果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BB6EA-8C9C-4065-9ED6-043D881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424,116 条标签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48C6D-C7D7-46F4-88F6-AD49D8E8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455EF-75D9-4299-8E97-ABA5E80C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D97706"/>
                </a:solidFill>
                <a:latin typeface="SimHei"/>
                <a:ea typeface="SimHei"/>
                <a:cs typeface="SimHei"/>
              </a:rPr>
              <a:t>session_id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1AAC6-80E7-44E3-AE79-C9354CDD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98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连接键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C0E1F-C789-4C43-915C-118C984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统一行为与结果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AAA5F-2566-44C1-9B5D-4DECEAD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08BF4-EA42-454C-8D4B-A9CEFB7B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1D48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E11D48"/>
                </a:solidFill>
                <a:latin typeface="SimHei"/>
                <a:ea typeface="SimHei"/>
                <a:cs typeface="SimHei"/>
              </a:rPr>
              <a:t>level_group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8CE64-007D-4CD4-B057-77186635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9875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阶段变量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5C7B9-EFB8-4ABB-9B09-853EC9F0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0-4 / 5-12 / 13-22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719DA-7215-4D86-8DC2-089DAD9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762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B516F-7151-4C41-B44B-DA4D64B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AAE15-7198-454C-897B-B1DED4E1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42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样本处理说明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297B4-0646-4120-AE05-5E996B88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429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行为日志规模较大，课程分析中对 train.csv 采用前 150 万行进行行为探索，并删除抽样边界处不完整的 session。标签层面的题目正确率仍基于完整 train_labels 统计，以保证题目难度和阶段差异的稳定性。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97C5D-8ABB-4CB1-A7F7-3B29D9B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762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938B26-DB5F-45D1-B944-CFBCEBA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D61C5-37DE-4C95-8B2A-7831B6BC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442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为什么不能直接合并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B14E3-982E-4A4B-B4DF-E992737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4429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如果直接把事件日志与标签表连接，会造成一个题目结果被同一 session 的多条事件记录重复复制。因此，本项目先在 session 层面聚合行为特征，再与标签结果对齐。</a:t>
            </a:r>
          </a:p>
        </p:txBody>
      </p:sp>
    </p:spTree>
    <p:extLst>
      <p:ext uri="{BB962C8B-B14F-4D97-AF65-F5344CB8AC3E}">
        <p14:creationId xmlns:p14="http://schemas.microsoft.com/office/powerpoint/2010/main" val="4399144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9648E-FCD8-4F97-9C8E-48B48F5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0D970-2E5F-4CA8-A3AC-FB0BB9E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A1F24-8FC6-4E4B-A091-EC5233A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95013-E8E1-4CB3-A1C9-2C6DD041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0717-844B-4244-97D0-C682CB6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三、数据预处理流程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6AA1-CF8D-4C50-867F-681FC7A4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6533D-BA1B-4931-971C-B39ABCB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A6C16-5643-45A8-B527-4FB17E1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预处理流程：从原始日志到会话级分析表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6EC48-6105-4F81-B368-4AC29C07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预处理的目标不是简单删除缺失值，而是解决大规模日志数据常见的粒度不一致、抽样边界、字段缺失、类别解析和特征聚合问题。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D5258-B76F-40DF-99AD-E1A36E05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28920-532D-4303-8F5F-81F46DB2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A12A9-4F30-4665-9D1C-9E67A25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读取数据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7A9F1-2104-4A37-A088-4D5B398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读取 train.csv 与 train_labels.csv，确认字段类型与规模。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16498-D538-4077-BA65-25DCCCA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D2566-E9B8-491B-A5B1-18B025F9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AF306-F651-4F20-8EF7-1C7A316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解析标签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3459B-5C0C-45FB-A875-0428AA0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拆分 session_id、题号和 correct，构造 q1-q23 结果表。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A38F5-2356-4FD3-91E9-3608292A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BFF4E-73BF-4CC3-AD4B-C28CA2E7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D8958-FC50-44E1-BAFE-ED8AC65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边界处理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6D54B-CC9C-43F9-8E82-F9DCF90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识别抽样首尾不完整 session，并从行为样本中移除。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1AC1E-9C7A-4E74-9E17-E264421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E7543-CD94-4148-956D-F61E4588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766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765C6-4362-4311-9BC0-B6004DB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缺失处理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CF8C0-8428-4F05-80C2-6D86F0A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对坐标、页面、文本、事件名等字段分类处理。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CC46F-00EA-437B-B784-92B5132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4E75C-AAEF-43C1-9496-0A6DA02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DBB78-22B6-4FE6-A79E-A983EBA8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会话聚合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263D4-16B4-476A-BA87-3BFB75A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统计事件数、事件类型数、累计时间、设置行为等特征。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C14EF-699A-487F-AC39-A9B08F22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0B157-720E-44BD-9EAC-1CEE888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910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03696-AB6E-4E93-A932-7BABEB7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阶段映射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75C1C-031D-449C-90A9-8D69B71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按官方 level_group 对题目正确率进行分组。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47E3F-7CDE-44A7-A39A-596831DE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17A3D6-1372-4D24-8A08-414B7389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06A90-010F-45D8-85B7-51C6E2D7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高级特征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2BB04-D159-411E-9E76-D68B963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构造时间进程、转移矩阵和空间密度等过程特征。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9ED40D-CA06-4693-BF51-0AA8FFF4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C5575-AC76-4EF1-8AC2-35D9C0B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375ADB-06EB-48B9-A66F-1F6C1B4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67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08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一致性校验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4F6EF9-98C7-4249-BDC3-9B80FB8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86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检查样本量、极端值、统计检验和图文指标一致性。</a:t>
            </a:r>
          </a:p>
        </p:txBody>
      </p:sp>
    </p:spTree>
    <p:extLst>
      <p:ext uri="{BB962C8B-B14F-4D97-AF65-F5344CB8AC3E}">
        <p14:creationId xmlns:p14="http://schemas.microsoft.com/office/powerpoint/2010/main" val="7999505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458CD-9A06-4E85-8381-137094C6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05974-7365-44F8-BCAB-FD846B4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DB5E6-CEAC-4982-A156-429FE60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3DE8E-8157-4DF1-A448-B44310F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BBB29-53F9-4C4A-AAB2-9C97B7B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四、分析方法框架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E73E3-9C91-4E66-8219-805F764C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882FB-1172-4C69-809E-D25029E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81AD-DB20-420F-B19F-5040CBB8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分析框架：结果描述、行为解释与过程拓展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69DA3-69AB-44CB-9A75-79EC382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专业数据分析报告需要形成清晰的方法链。本项目先用描述统计确定表现差异，再用分组比较和相关分析解释行为因素，最后加入时间、路径和空间维度，展示游戏日志数据区别于普通表格数据的价值。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730DA-B5BE-4222-9454-58E5D7B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C9FFE-9BCF-4316-89F1-2DC9D455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C5FCA-67EB-4123-9530-530F8229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1. 描述性统计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B0C88-99A2-419A-B849-F5D80C67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计算总体答题正确率、会话正确率分布、题目正确率排序和阶段均值，用于回答数据整体表现和差异位置。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1F5A2-B43E-4059-8954-9FC7810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C81B3-AE95-48FA-81A3-BDFFBC1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9C205-9888-41F7-A154-69C1F27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2. 探索性分析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FB35A-087B-40AC-A25F-D6CEDB7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9875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比较高低表现组的事件类型、点击数量、设置行为等变量，识别可能与表现相关的行为特征。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390D6-CDA8-4A2C-B76A-0AFDC65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A339E-1D16-412B-9B04-9E1261A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1F5D5-C356-4E6F-9355-D00A4AEE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3. 统计检验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B4DB5-C541-45F8-87CB-4BA2553F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对官方 level_group 的正确率差异进行方差分析，并对行为变量与正确率计算相关系数。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E4B5B-E7B0-4522-A9AD-E6777BE0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9610E-1BF8-4F1F-860E-FA963AE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DC694-4ECA-4C1B-86B4-8DF29BC2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4. 高级EDA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4B706-6768-4DB7-9B65-9E8E2B5F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将行为日志转化为标准化时间进程、事件转移矩阵和空间点击密度，从过程角度解释学习行为。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CBB8D-C40D-4F70-8B59-C282974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52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4EEC8-73E9-492F-B8FA-C1A33F48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结果层回答：哪些题、哪些阶段表现不同？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EAC821-B850-488D-B097-9CA51F1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52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0AAA9-D791-425C-9D00-9C758BC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863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行为层回答：学生做了哪些动作，这些动作与表现如何相关？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79A094-4C77-4F93-BB9E-53C4B7C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53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7DD9EB-0E74-4B53-A5C2-9BA1A4F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863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01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过程层回答：学生在何时、按何种顺序、在哪些位置进行探索？</a:t>
            </a:r>
          </a:p>
        </p:txBody>
      </p:sp>
    </p:spTree>
    <p:extLst>
      <p:ext uri="{BB962C8B-B14F-4D97-AF65-F5344CB8AC3E}">
        <p14:creationId xmlns:p14="http://schemas.microsoft.com/office/powerpoint/2010/main" val="9710960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E8C5B-5153-4A7D-A5DE-8293C7F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60BE-A152-4B97-A29F-58ECF03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2A957-181F-4659-B4B5-550B0FC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39AE-6140-4FE5-871E-BC5E048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B1F36-9602-4B70-9128-030E3B08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五、总体表现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C99C3-F140-43CF-A7DA-4634ADB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DED9E-473C-4AF3-BBD1-09DA276B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BDB05-EF88-4CE3-9E77-36FB648E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总体正确率约 70.6%，但会话之间仍存在明显分布差异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242A2-5AB5-45FC-A110-BCCBD02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总体答题正确率按所有题目作答记录计算，反映整体平均水平；会话正确率先对每个 session 计算正确率，再观察不同会话之间的分布。二者结合可以同时回答“整体表现如何”和“学生差异有多大”。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859ED-510C-4DCB-9767-1042D5DD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924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172a992fe4bf2"/>
          <a:stretch xmlns:a="http://schemas.openxmlformats.org/drawingml/2006/main"/>
        </p:blipFill>
        <p:spPr>
          <a:xfrm xmlns:a="http://schemas.openxmlformats.org/drawingml/2006/main">
            <a:off x="704850" y="2571226"/>
            <a:ext cx="5810250" cy="247754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03BD5-98A5-435D-A7F0-50D2A57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366D4-5497-41BB-AD6C-44F0AC6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2563EB"/>
                </a:solidFill>
                <a:latin typeface="SimHei"/>
                <a:ea typeface="SimHei"/>
                <a:cs typeface="SimHei"/>
              </a:rPr>
              <a:t>70.6%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969F2-C818-477D-81EF-8B997A6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146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总体答题正确率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0A60F-125F-4C5A-BCE6-CC2274A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题目-作答层面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66EA3-2744-4325-9107-AF2454DB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949FD-17AF-4244-91A8-B9C2C49D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0F766E"/>
                </a:solidFill>
                <a:latin typeface="SimHei"/>
                <a:ea typeface="SimHei"/>
                <a:cs typeface="SimHei"/>
              </a:rPr>
              <a:t>23题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6AD58-408A-4AB9-AB1D-493F3D6D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会话正确率基础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0623F-6DC1-4718-A3E8-2F7CBEC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每个 session 逐题汇总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BE0EC-3925-4D3C-B58F-B44691F6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4229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F6CF3-B07A-4CC3-966D-D474C67F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BC6C-0D2C-40AE-B1C7-F519FE00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86175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图表说明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80A20-E966-4695-A845-19B39CE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38957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饼图展示整体答题结果中正确与错误的比例，分布图展示各 session 的平均正确率。若只看总体正确率，会忽略不同学生或不同会话之间的差异；若只看会话分布，又不容易直观看到全局正确与错误的比例。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4F7B4-F2F5-4910-A9D0-08F0972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4229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447FA-F817-4E00-8381-286FAF0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FB791-A05C-4EA8-9956-04493C82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分析结论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E95D5-E830-4382-8456-CAD173C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911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整体正确率处于中等偏高水平，说明任务并非整体过难。但后续仍需要按题目和阶段拆分，因为总体平均值可能掩盖局部高难题和阶段性下降。</a:t>
            </a:r>
          </a:p>
        </p:txBody>
      </p:sp>
    </p:spTree>
    <p:extLst>
      <p:ext uri="{BB962C8B-B14F-4D97-AF65-F5344CB8AC3E}">
        <p14:creationId xmlns:p14="http://schemas.microsoft.com/office/powerpoint/2010/main" val="316110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B7C01-9865-4699-AA90-7993BD20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F784-0026-47FC-8EDE-2AA1EA1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C626D-0B5A-4E1F-BB82-964FBCA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34C6D-000B-4AFE-9DAC-D15F89E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1EF7-D0EF-413F-90F3-88C34866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六、题目难度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55CCE-5089-4CFE-A7E5-AA069A4A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816B-7B75-4784-BEDB-13547F5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57EAE-6A41-4F32-8232-6BC30AE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题目难度并不均匀，Q13 是最突出的困难点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71BF-8095-47C8-91FF-60897195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对 q1-q23 分别计算正确率后，可以看到题目之间存在明显难度差异。这一步是后续阶段分析和行为解释的基础，因为不同题目对学生的信息整合和推理要求可能不同。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74868-A4F1-435A-A295-B0BDB11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591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6d17afe9a4a68"/>
          <a:stretch xmlns:a="http://schemas.openxmlformats.org/drawingml/2006/main"/>
        </p:blipFill>
        <p:spPr>
          <a:xfrm xmlns:a="http://schemas.openxmlformats.org/drawingml/2006/main">
            <a:off x="685800" y="2516014"/>
            <a:ext cx="6477000" cy="253082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9B835-6142-4623-8914-99D691F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304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5A68A-F231-423D-BD86-81E092D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1D48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E11D48"/>
                </a:solidFill>
                <a:latin typeface="SimHei"/>
                <a:ea typeface="SimHei"/>
                <a:cs typeface="SimHei"/>
              </a:rPr>
              <a:t>Q13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7768E-DB10-4ED7-93FA-585C8F80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最难题，正确率约 27.5%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32A25-B718-43E1-B615-486B84AC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04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1CA32-A9FF-4966-9DBD-48B24A99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0F766E"/>
                </a:solidFill>
                <a:latin typeface="SimHei"/>
                <a:ea typeface="SimHei"/>
                <a:cs typeface="SimHei"/>
              </a:rPr>
              <a:t>Q2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4CBBB-D094-40BB-8C53-59726AC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最易题，正确率约 97.9%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06F98-DC9C-49AE-AB4A-DB52584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读图方式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55A97-4AE8-4A67-9E3E-1D02FAD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38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排序图突出题目正确率的梯度变化。重点不在单个柱形，而在于题目难度分布存在断层。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25320-7536-4613-B54D-88F379A5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分析含义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A4FB8-EBCF-4C2E-B735-24ABD39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102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38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Q13 显著低于其他题目，提示该题可能对应更复杂的线索整合或游戏阶段转换。</a:t>
            </a:r>
          </a:p>
        </p:txBody>
      </p:sp>
    </p:spTree>
    <p:extLst>
      <p:ext uri="{BB962C8B-B14F-4D97-AF65-F5344CB8AC3E}">
        <p14:creationId xmlns:p14="http://schemas.microsoft.com/office/powerpoint/2010/main" val="19759530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F3AA0-E675-416F-AD8C-8AD7B04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48DE4-6024-442E-B837-4A58DD26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E269D-D2CE-4AA0-9966-A77A15F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733BD-A2AD-4838-8D80-06CB042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EA08B-D674-4645-A4BA-2E518D1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七、阶段差异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ADBD8-85A7-42F4-83A3-BAA57B6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BDA88-9D91-4DD0-B301-81993C9A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4AACD-6C73-47D5-985F-FA813A9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中段 level_group 是表现下降最集中的阶段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4D48E-1C2B-49A9-BC2D-CB2442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按官方 level_group 将题目划分为 0-4、5-12、13-22 三个阶段，可以把题目难度与游戏进程联系起来。阶段维度比单独题号更适合讨论学生在游戏推进中的学习压力变化。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C2D58-0186-427C-94E4-48C24A7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3055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1783f1f1949e6"/>
          <a:stretch xmlns:a="http://schemas.openxmlformats.org/drawingml/2006/main"/>
        </p:blipFill>
        <p:spPr>
          <a:xfrm xmlns:a="http://schemas.openxmlformats.org/drawingml/2006/main">
            <a:off x="1753054" y="2152650"/>
            <a:ext cx="4056743" cy="3276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CD385-56BA-4168-8B44-43C72C94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0-4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0370A-95DC-447B-9B10-FC093C45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3FC5A-DAAC-4604-BF07-435BE5E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19278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B3037-03F8-41CE-8FBF-C4ADB8D3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622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88.0%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42977-D65E-4283-83CB-4B9CCC53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5-12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D156E-7DB6-4311-A43F-AC25483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24175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F9A3C-215C-4414-81EC-B3959F0C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24175"/>
            <a:ext cx="14239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804A7-8299-4B3E-96C7-D9DEE613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765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65.0%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E72BA-375E-473C-BCCC-048B086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13-22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255F6-7FB3-4F61-B001-A37030E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38525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FC97D-A26C-47D0-87E2-02BF3565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38525"/>
            <a:ext cx="155981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7D10D-C853-47D8-95AE-55E183B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909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71.2%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C88F1-4240-4727-9DA8-B00BA37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237CF-174A-46D9-A83D-8B9118BA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E89E7-E963-4B67-B11E-A494493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5767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统计检验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C2E53-1E81-40CE-8BE3-4D7D479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3095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单因素方差分析结果为 F=7189.15，p&lt;0.001，说明三个阶段的正确率差异具有统计显著性。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1BCDF-96AD-4ED2-B016-1C41954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530E3-3ED3-4A6E-96A1-A0A28A0D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3120F-F3AF-44EC-A325-EDB541AF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解释方向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009F8-7EC1-4548-8ADA-30375D6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91175"/>
            <a:ext cx="3095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5-12 阶段正确率最低，可能说明中段任务对线索定位、信息整合或游戏机制理解的要求更高。后段正确率回升，可能与学生逐渐熟悉任务规则有关。</a:t>
            </a:r>
          </a:p>
        </p:txBody>
      </p:sp>
    </p:spTree>
    <p:extLst>
      <p:ext uri="{BB962C8B-B14F-4D97-AF65-F5344CB8AC3E}">
        <p14:creationId xmlns:p14="http://schemas.microsoft.com/office/powerpoint/2010/main" val="14810072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39DFC-2C36-4096-BB48-021CA74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D4EA-2A72-4AD6-BFE1-ECD0FE57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9128D-DAF3-4D64-A714-205F9A8D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5D7EF-74CC-4AB3-A9F8-A3245D2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B08A0-92EA-4E7B-B634-5C1A043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八、行为结构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3D185-ACB9-4EF4-8206-21702783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744CC-B187-4B4B-9656-41D0946F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5E04A-F47C-41E5-B444-5DF4CA06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不同表现组的事件类型结构存在差异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AFF2B-30C7-4D5F-92BD-D95D808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行为日志不仅记录学生是否答对，还记录学生在游戏中的具体操作类型。将 session 按表现分组后比较事件类型，可以观察高低表现组是否具有不同的行为模式。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AE439-5D38-4847-8444-119FF62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400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8a2b838284364"/>
          <a:stretch xmlns:a="http://schemas.openxmlformats.org/drawingml/2006/main"/>
        </p:blipFill>
        <p:spPr>
          <a:xfrm xmlns:a="http://schemas.openxmlformats.org/drawingml/2006/main">
            <a:off x="685800" y="2452421"/>
            <a:ext cx="6286500" cy="277230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07862-33F3-4E64-BB64-67F56D4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142B6-D509-46DB-9914-8B5C393F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6C42B-9E1E-4AA3-80A8-8AE5F52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3362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图表说明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2880B-B16B-4F54-9FB5-ACD9B3F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38425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图中按表现分组展示不同事件类型的平均数量。相比只看总事件数，事件类型构成更能反映学生是导航、观察、点击、回看还是进行其他交互。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790B6-72D3-40E2-858D-EBFDBE2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323C3-F0D7-4778-B7DE-7461A83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E53DC-6A1C-4581-B973-7045A65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主要发现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8D39A-2C40-4D3A-B48C-EDE2A14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48125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高低表现组并不是所有事件同步增减，而是在若干事件类型上呈现结构性差异。这说明学生表现差异可能与行为策略有关，而不仅是活跃程度不同。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EAC2B-73CD-4EEF-895E-5BBA8A9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015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7335C-07E9-4100-9051-F84530DD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01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87A99-3DBB-41B2-9322-CAECD7D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5302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解释边界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1D4AA-BF0A-4DB9-8BC3-CFFBC4EE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57825"/>
            <a:ext cx="3095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事件类型本身仍是粗粒度变量，不能直接说明认知过程。更稳妥的做法是继续结合时间顺序和空间位置，判断这些行为是否构成低效探索或有效推进。</a:t>
            </a:r>
          </a:p>
        </p:txBody>
      </p:sp>
    </p:spTree>
    <p:extLst>
      <p:ext uri="{BB962C8B-B14F-4D97-AF65-F5344CB8AC3E}">
        <p14:creationId xmlns:p14="http://schemas.microsoft.com/office/powerpoint/2010/main" val="8084682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B5C78-D2FC-4BF1-995F-42DBC50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284C2-65FF-4299-92F0-6A6A65D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297B-136A-4BD5-9478-52FCD7D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4EB17-8D6E-4659-9B42-9A5195A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2EAA5-AD6A-4BC2-84E3-518FB95D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九、变量关系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ADE81-AB40-4BE0-BAF7-048D66A2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EB3D6-E1FB-41AC-85CF-F82D71D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7B1C-E708-45E9-BE5E-29635608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事件数量与表现显著负相关，活跃不等于有效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7C94F-6E3A-441C-9A47-F341FF3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在学习分析中，常见误区是把活跃度等同于学习效果。但本数据中，事件数量与平均正确率呈显著负相关，说明更多操作可能包含重复试错、回退或迷失行为。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5AC0C-8B06-4855-AB51-FA5D8479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876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53c31e2542e0"/>
          <a:stretch xmlns:a="http://schemas.openxmlformats.org/drawingml/2006/main"/>
        </p:blipFill>
        <p:spPr>
          <a:xfrm xmlns:a="http://schemas.openxmlformats.org/drawingml/2006/main">
            <a:off x="807839" y="2152650"/>
            <a:ext cx="4518422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C4C1C-FCB1-4036-9852-F66E020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876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4ad0be264585"/>
          <a:stretch xmlns:a="http://schemas.openxmlformats.org/drawingml/2006/main"/>
        </p:blipFill>
        <p:spPr>
          <a:xfrm xmlns:a="http://schemas.openxmlformats.org/drawingml/2006/main">
            <a:off x="6642952" y="2152650"/>
            <a:ext cx="3401897" cy="3143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19ED2-649B-4005-8FB1-C157D60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BDD7B-981B-48AC-BAC9-6846850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1D48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E11D48"/>
                </a:solidFill>
                <a:latin typeface="SimHei"/>
                <a:ea typeface="SimHei"/>
                <a:cs typeface="SimHei"/>
              </a:rPr>
              <a:t>r=-0.547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223DC-9BD1-4936-A04D-A516EE9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事件数 vs 平均正确率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EDF44-8C94-4FB4-A59D-CDCFDFF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p&lt;0.001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85F5D-3593-4AEA-9D21-97D8FA5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054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246DA-17F9-46EC-A4ED-77CD2A1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05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77B20-0675-4A24-8351-B3C3AD2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48325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1E4A4-F216-4E45-88FB-3E71CE64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53125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负相关并不意味着“少操作一定更好”，而是提示高频操作可能对应低效探索。学生如果反复点击、来回切换或频繁调整，可能说明其尚未找到有效线索。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35861-94E5-4B1C-99E5-EBA2809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E7C2C-CEA0-4335-90F0-EC994AF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4B2FE-2168-4943-8ECD-E636817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48325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方法提醒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45F3D-092A-479F-A8F5-B056D529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53125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相关分析只能说明变量同步变化，不能证明因果。因此，下一步需要借助时间、路径和空间维度来理解这些高频事件到底发生在何处、何时、以何种顺序出现。</a:t>
            </a:r>
          </a:p>
        </p:txBody>
      </p:sp>
    </p:spTree>
    <p:extLst>
      <p:ext uri="{BB962C8B-B14F-4D97-AF65-F5344CB8AC3E}">
        <p14:creationId xmlns:p14="http://schemas.microsoft.com/office/powerpoint/2010/main" val="1149427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E4633-82C7-417B-A99E-3742701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4399B-B833-4FBE-A1F8-322EDF9F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61577-F27C-42C4-8ABA-4783014D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A8474-968A-42B8-9175-AC16D82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D4075-CCE6-40A6-87C5-56668A2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十、时间维度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0B334-55DD-43DA-BA2A-D65F723D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EA2B4-F325-4129-99EB-DCC94D3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FDC42-7DBB-443F-A3AB-386ED6A9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总耗时关系不显著，但过程节奏值得观察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D867-E70F-4D35-8F66-BC15EF3B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不同 session 的绝对时长差异较大，直接比较累计耗时容易受到会话长度影响。因此，本项目将游戏进程标准化，观察学生在相对进程中的行为变化。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5488-8C55-4EE0-9CC1-69554E4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4008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352be9f144492"/>
          <a:stretch xmlns:a="http://schemas.openxmlformats.org/drawingml/2006/main"/>
        </p:blipFill>
        <p:spPr>
          <a:xfrm xmlns:a="http://schemas.openxmlformats.org/drawingml/2006/main">
            <a:off x="685800" y="2907032"/>
            <a:ext cx="6286500" cy="188213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6C60C-D7A0-4BA9-A6C7-8C63FBE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25B87-1BE1-4784-9192-73DDF055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2563EB"/>
                </a:solidFill>
                <a:latin typeface="SimHei"/>
                <a:ea typeface="SimHei"/>
                <a:cs typeface="SimHei"/>
              </a:rPr>
              <a:t>r=0.013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F327F-E888-43A4-A842-8D0D3FEB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765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938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累计耗时 vs 正确率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7A02E-04B4-4B91-A887-39D6F12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713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p=0.6279，不显著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03F00-2815-4C9E-A71F-2273219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FEB77-DF42-4396-9798-E6625F90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C526B-6C1F-4042-A3D1-C8F1478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7187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图表说明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A3975-A310-49BC-88BF-A9CBE0F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76675"/>
            <a:ext cx="309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标准化时间进程把不同长度的 session 放到同一横轴上比较。这样可以观察行为在游戏前段、中段、后段是否出现集中或波动。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FA01-2A13-4E47-AAC9-127F2FF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D5306-A444-4B65-9E81-6B701BEB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661B9-7FFE-4227-87C4-AA5DEBE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0537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E2660-9030-4782-8FF8-F51F638D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0175"/>
            <a:ext cx="309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单纯花费更长时间并不必然带来更高正确率。更有解释力的是学生在关键阶段是否出现重复探索、突然增加的操作密度或后期补救行为。</a:t>
            </a:r>
          </a:p>
        </p:txBody>
      </p:sp>
    </p:spTree>
    <p:extLst>
      <p:ext uri="{BB962C8B-B14F-4D97-AF65-F5344CB8AC3E}">
        <p14:creationId xmlns:p14="http://schemas.microsoft.com/office/powerpoint/2010/main" val="18523709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B6386-540D-49DF-AB85-0B8F25DF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7DE7-7B2C-4B35-AE22-789CFAB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DDAF-6158-4480-84E5-D8E1361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F6293-76BE-466E-8B68-98FB0E9A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2E727-006A-403A-96F1-3E2E3A9F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十一、路径维度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91E33-4EBB-4A52-84E6-5199810D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7857B-CA4C-4478-9845-5ADA18F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2A890-AC87-412D-A14A-0E6A3FE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事件转移矩阵揭示学生行为的顺序结构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5E219-5A47-4806-9B9F-A73BDBAD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事件频数只能回答“做了多少”，转移矩阵进一步回答“一个动作之后更可能接着做什么”。对于游戏学习任务，行为顺序比单个动作更接近真实的学习路径。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90466-CF5F-40E9-B0A8-40A58D81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055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de4700e8f486a"/>
          <a:stretch xmlns:a="http://schemas.openxmlformats.org/drawingml/2006/main"/>
        </p:blipFill>
        <p:spPr>
          <a:xfrm xmlns:a="http://schemas.openxmlformats.org/drawingml/2006/main">
            <a:off x="685800" y="2912009"/>
            <a:ext cx="6191250" cy="187218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C75D-99B4-477E-A460-96F717B2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CE745-3232-48DE-BA1E-63D47416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21FFA-13B3-419B-A9AE-E196A496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读图方式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3276E-5F73-445E-BB28-4C537C1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38425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矩阵中的颜色深浅表示从一种事件转移到另一种事件的频率。对角线较深可能代表同类行为连续重复，非对角线较深则代表稳定的行为切换。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60274-0AFB-4E20-B9A5-E818726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BEFF8-A80A-4D46-B735-BCB812C6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D885F-412D-41B2-BA4C-E29AD662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6237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分析意义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96544-CE5B-48BB-A5E4-E9D84D87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如果低表现组出现更多重复或回退转移，可能说明其在界面中反复寻找线索；如果高表现组路径更短更稳定，则可能代表目标识别更清楚。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40D09-CFD3-465C-A8B8-A61FF2C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482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6F9AF-3408-4E3E-B1E1-604B88D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48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90BC9-415B-4C98-9B87-7618E928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91125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后续拓展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60FE4-469B-4AF1-984C-A593E4A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95925"/>
            <a:ext cx="3095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可以进一步按 level_group 或题目分别构造转移矩阵，观察中段困难任务是否伴随特定的低效路径。</a:t>
            </a:r>
          </a:p>
        </p:txBody>
      </p:sp>
    </p:spTree>
    <p:extLst>
      <p:ext uri="{BB962C8B-B14F-4D97-AF65-F5344CB8AC3E}">
        <p14:creationId xmlns:p14="http://schemas.microsoft.com/office/powerpoint/2010/main" val="17707808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2A695-6BA1-45ED-B088-B695C03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69BAB-56A6-4122-B510-6A939361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5B06A-03EC-4C2F-A337-817FB46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0F6CA-06CC-4A8F-B687-1169972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F0707-C788-468C-9B16-CCE460B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十二、空间维度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A5D9A-E345-4851-94F1-2820E48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AEA26-BEB6-45AE-9F29-07213AA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A8868-012A-4234-BE0C-B52A8FBB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空间热区补充了“学生在哪里探索”的证据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6B379-8D32-49B5-8674-A3187E7F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游戏日志包含坐标信息，因此可以将点击位置转化为空间密度图。空间分析不能直接判断学生是否理解题目，但可以描述其交互范围、注意力集中区域和探索位置差异。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780DA-B087-4B67-B316-817B78E6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7818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3019fb65e450d"/>
          <a:stretch xmlns:a="http://schemas.openxmlformats.org/drawingml/2006/main"/>
        </p:blipFill>
        <p:spPr>
          <a:xfrm xmlns:a="http://schemas.openxmlformats.org/drawingml/2006/main">
            <a:off x="685800" y="2830548"/>
            <a:ext cx="6667500" cy="199700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29C23-EBBD-47C7-A768-302CAAE3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82557-7B58-4902-9845-8B47A889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C0B6F-1A8A-45DD-8D75-1A77908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空间发现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926BB-14AB-4518-8C24-14A935B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2809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热区图显示学生点击并非均匀分布，而是集中在界面中的若干区域。不同表现组若呈现不同热区，说明其注意力分配和界面探索策略可能存在差异。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FB0AE-6554-43BB-9FC2-21A3B14D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4F0AF-BAD7-43B5-AB5A-A62102D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B3FDF-E64F-4DFA-97D4-5EA20C9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38575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联合解释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46AFF-2DD2-4000-93DF-6370F564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43375"/>
            <a:ext cx="280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空间维度应与时间和路径结合使用：时间回答何时行动，路径回答按什么顺序行动，空间回答在哪里行动。三者结合后，过程画像更完整。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6F600-A9E2-4DCC-9D78-F0B0270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68760-93AA-49B8-B61C-B58FB841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76925-28EF-40CA-BCA8-1BFE9B7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48275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局限说明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1CCC1-37DE-4A80-A59C-D9EB8CDA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53075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由于没有完整复原游戏界面语义，空间热区主要用于描述探索范围，不能直接判断点击是否有效或是否对应正确线索。</a:t>
            </a:r>
          </a:p>
        </p:txBody>
      </p:sp>
    </p:spTree>
    <p:extLst>
      <p:ext uri="{BB962C8B-B14F-4D97-AF65-F5344CB8AC3E}">
        <p14:creationId xmlns:p14="http://schemas.microsoft.com/office/powerpoint/2010/main" val="208689023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C1F92-EFBD-4298-AC31-A4C5D8F4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A98A4-76BE-4994-86DD-C36C9202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E75AE-1FD5-4951-B4C5-2A8A9CE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FB5AB-1E95-4A45-86FE-7707E86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1819F-2C09-43FB-8CBC-FB0E747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十三、主要结论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EA270-8F8C-45A6-A125-438D32EB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3C7D3-7E50-4BBC-9347-7C9F47FC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288D-2046-463A-99E9-7B4BABEE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主要结论：学生表现差异可以从过程行为中得到解释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DE1B0-757B-40B3-BF72-E88A122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基于以上分析，可以对最初研究问题作出回答：游戏日志不仅能展示最终答题表现，也能提供行为过程层面的解释证据。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A55B7-4DD1-413F-9526-B725918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0E01C-150F-442F-92BE-20F1D3E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94DA0-1EE0-4E97-8D17-3958F8B1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整体表现中等偏高，但题目难度差异明显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7DF45-7DD6-4C12-8BE1-FBB86635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2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总体正确率约 70.6%，但 Q13 正确率约 27.5%，说明平均值掩盖了局部高难题。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C5B16-51CD-4D40-BFCA-3C8BC1C1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E8343-DED0-47E1-8ED0-4680E76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0743A-0F12-44AC-9873-53AE978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中段阶段是表现下降的关键位置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98FF5-7F05-4647-8D09-7FBA9A9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2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0-4、5-12、13-22 三个阶段正确率分别约 88.0%、65.0%、71.2%，差异显著。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4C45F-6870-4802-843C-0A1914B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41ADF-578A-4B6C-80EA-78FC6E4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E11D4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47CA-BDFE-4D37-BD21-0C7FE5F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活跃度不能简单等同于学习效果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68729-4FF4-4298-A515-56ECCC3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2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事件数与平均正确率显著负相关，提示频繁操作可能包含低效探索、重复试错或迷失行为。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09067-7E1E-499E-B025-0516C4C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E6A8A-F406-48E2-9ED9-D62C56C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28F99-E35A-42D3-AF98-5C43A0A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时间、路径、空间共同构成过程画像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436F4-F2A8-4FE1-AAC7-FF4E078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23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标准化时间进程、事件转移矩阵和空间热区，使分析从结果描述推进到学习过程解释。</a:t>
            </a:r>
          </a:p>
        </p:txBody>
      </p:sp>
    </p:spTree>
    <p:extLst>
      <p:ext uri="{BB962C8B-B14F-4D97-AF65-F5344CB8AC3E}">
        <p14:creationId xmlns:p14="http://schemas.microsoft.com/office/powerpoint/2010/main" val="8208840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FF5E3-4548-495D-8ED3-8110A974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ADB47-AD2F-48AE-9218-A038BBF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3F8D0-B140-44B3-AC06-FE42C26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E3AA-EBC7-4EBD-A3DF-6EFB645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D348-EF10-4269-A093-EC97CE31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900" b="1">
                <a:solidFill>
                  <a:srgbClr val="64748B"/>
                </a:solidFill>
                <a:latin typeface="SimHei"/>
                <a:ea typeface="SimHei"/>
                <a:cs typeface="SimHei"/>
              </a:rPr>
              <a:t>十四、讨论与改进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6194A-B71D-4288-A903-B89723C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C56BD-B725-477F-A05D-FCD3423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SimHei"/>
                <a:ea typeface="SimHei"/>
                <a:cs typeface="SimHei"/>
              </a:defRPr>
            </a:pPr>
            <a:r>
              <a:rPr sz="675" b="0">
                <a:solidFill>
                  <a:srgbClr val="64748B"/>
                </a:solidFill>
                <a:latin typeface="SimHei"/>
                <a:ea typeface="SimHei"/>
                <a:cs typeface="SimHei"/>
              </a:rPr>
              <a:t>Kaggle Predict Student Performance from Game Play | 数据分析课程项目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894A-84D2-42F3-ADDA-8AE3AC13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2325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讨论：图表有效地回答了问题，但仍有进一步深化空间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B2F24-11AC-4CA6-9E00-E179F425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本项目围绕课程要求完成了数据整理、清洗、预处理、描述统计、探索性分析、可视化展示和结论讨论。分析重点在于提出清楚的问题，并用合适图表展示数据分布、变量关系、类别差异、时间变化和空间特征。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88B34-A1AC-442B-9A26-D43782C0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72C01-BFE7-435B-AAD6-5DDCA8DA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4530E-D3A3-4EEC-B9DA-F716E0B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图表有效性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72A83-8D00-4C70-939E-086ECA9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题目难度图和阶段热力图有效定位了表现差异；行为分组图和相关矩阵揭示了行为变量与表现之间的关系；时间进程、转移矩阵和空间热区体现了高级 EDA 的过程视角。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699E0-FC8D-4BC3-AED4-3B56C9EC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857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8C632-D135-45BA-A395-0704FBC6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897E9-C5F5-4D35-8DB4-FBD5777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24125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分析不足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13E36-3841-46A1-987F-98E0FF2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289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行为分析基于抽样日志，样本覆盖不如完整训练集；空间坐标尚未与游戏界面元素完全对应；相关分析不能证明因果；部分行为变量仍较粗粒度。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3115E-BE98-4E91-B161-3CB12EB7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857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D027F-174A-4D92-86B7-4A11044B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45102-39C2-42FE-8BAD-0EB32DD7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后续改进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11978-8013-42D4-BB28-09431A6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可以使用完整日志构建更稳定的会话特征；按题目和阶段分别建立转移矩阵；结合题目文本和游戏界面语义解释空间热区；在 EDA 基础上构建轻量预测模型验证特征价值。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4343E-3A36-4FF2-B4CC-F74643D0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857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E87B2-15D7-4152-ACB8-1F0DA8D0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7AE66-73D0-4E8B-B50E-2686573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14825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SimHei"/>
                <a:ea typeface="SimHei"/>
                <a:cs typeface="SimHei"/>
              </a:defRPr>
            </a:pPr>
            <a:r>
              <a:rPr sz="1200" b="1">
                <a:solidFill>
                  <a:srgbClr val="172033"/>
                </a:solidFill>
                <a:latin typeface="SimHei"/>
                <a:ea typeface="SimHei"/>
                <a:cs typeface="SimHei"/>
              </a:rPr>
              <a:t>最终回答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5559B-4134-47AD-A18F-232CA79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196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SimHei"/>
                <a:ea typeface="SimHei"/>
                <a:cs typeface="SimHei"/>
              </a:defRPr>
            </a:pPr>
            <a:r>
              <a:rPr sz="945" b="0">
                <a:solidFill>
                  <a:srgbClr val="334155"/>
                </a:solidFill>
                <a:latin typeface="SimHei"/>
                <a:ea typeface="SimHei"/>
                <a:cs typeface="SimHei"/>
              </a:rPr>
              <a:t>学生表现差异不仅体现在答题结果上，也体现在游戏过程中的行为选择、节奏推进、路径转移和空间探索方式上。高级 EDA 的价值，是把这些过程痕迹转化为可解释、可讨论的证据。</a:t>
            </a:r>
          </a:p>
        </p:txBody>
      </p:sp>
    </p:spTree>
    <p:extLst>
      <p:ext uri="{BB962C8B-B14F-4D97-AF65-F5344CB8AC3E}">
        <p14:creationId xmlns:p14="http://schemas.microsoft.com/office/powerpoint/2010/main" val="1700781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2026-06-07T13:14:54.8270000Z</dcterms:created>
  <dcterms:modified xsi:type="dcterms:W3CDTF">2026-06-07T13:14:54.8270000Z</dcterms:modified>
</coreProperties>
</file>